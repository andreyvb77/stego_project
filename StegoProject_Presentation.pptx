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SRNet</c:v>
                </c:pt>
                <c:pt idx="1">
                  <c:v>GSR-Net</c:v>
                </c:pt>
                <c:pt idx="2">
                  <c:v>Yedroudj-Net</c:v>
                </c:pt>
                <c:pt idx="3">
                  <c:v>Zhu-Net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0.7233</c:v>
                </c:pt>
                <c:pt idx="1">
                  <c:v>0.74</c:v>
                </c:pt>
                <c:pt idx="2">
                  <c:v>0.6033</c:v>
                </c:pt>
                <c:pt idx="3">
                  <c:v>0.6867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SRNet</c:v>
                </c:pt>
                <c:pt idx="1">
                  <c:v>GSR-Net</c:v>
                </c:pt>
                <c:pt idx="2">
                  <c:v>Yedroudj-Net</c:v>
                </c:pt>
                <c:pt idx="3">
                  <c:v>Zhu-Net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0.7983</c:v>
                </c:pt>
                <c:pt idx="1">
                  <c:v>0.8119</c:v>
                </c:pt>
                <c:pt idx="2">
                  <c:v>0.6629</c:v>
                </c:pt>
                <c:pt idx="3">
                  <c:v>0.8298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2962FF"/>
                </a:solidFill>
              </a:defRPr>
            </a:pPr>
            <a:r>
              <a:t>Система обнаружения стеганографически скрытой информации</a:t>
            </a:r>
          </a:p>
          <a:p>
            <a:r>
              <a:t>с помощью нейронных сетей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Предзащита ВКР</a:t>
            </a:r>
          </a:p>
          <a:p>
            <a:r>
              <a:t>Студент группы ФКИБ 22-04</a:t>
            </a:r>
          </a:p>
          <a:p>
            <a:r>
              <a:t>Научный руководитель: [ФИО]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Актуальность и 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Актуальность: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Рост объемов мультимедийного трафика в интернете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Изображения — популярный контейнер для скрытых каналов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Традиционные методы неэффективны против современных алгоритмов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Необходим переход к методам глубокого обучения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 b="1">
                <a:solidFill>
                  <a:srgbClr val="2C3E50"/>
                </a:solidFill>
              </a:defRPr>
            </a:pPr>
            <a:r>
              <a:t>Цель работы: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Разработка и сравнительный анализ CNN архитектур (SRNet, GSR-Net, Yedroudj-Net, Zhu-Net)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Обнаружение следов LSB-стеганографии в растровых изображениях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Выбор оптимальной модели для практического применения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Этапы подготовки и выполнения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1. Обзор литературы и методов: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Изучены методы стеганоанализа и архитектуры нейросетей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Проанализированы: SRNet, Yedroudj-Net, Zhu-Net, GSR-Net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 b="1">
                <a:solidFill>
                  <a:srgbClr val="2C3E50"/>
                </a:solidFill>
              </a:defRPr>
            </a:pPr>
            <a:r>
              <a:t>2. Подготовка датасетов: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Cats vs Dogs (1000 изображений) → grayscale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Синтетические градиентные изображения (256×256)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Внедрение скрытого сообщения методом LSB-replacement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 b="1">
                <a:solidFill>
                  <a:srgbClr val="2C3E50"/>
                </a:solidFill>
              </a:defRPr>
            </a:pPr>
            <a:r>
              <a:t>3. Реализация моделей на PyTorch: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Адаптация архитектур для бинарной классификации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Реализация слоев HPF/SRM фильтров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Добавление механизмов внимания (SE-Block, CBAM)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962FF"/>
                </a:solidFill>
              </a:defRPr>
            </a:pPr>
            <a:r>
              <a:t>Метод LSB-стеганографии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080000"/>
            <a:ext cx="1440000" cy="720000"/>
          </a:xfrm>
          <a:prstGeom prst="rect">
            <a:avLst/>
          </a:prstGeom>
          <a:solidFill>
            <a:srgbClr val="F5F7FA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Original Pixel</a:t>
            </a:r>
          </a:p>
          <a:p>
            <a:r>
              <a:t>10110110 (182)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00000" y="1350000"/>
            <a:ext cx="720000" cy="180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0" y="1620000"/>
            <a:ext cx="360000" cy="288000"/>
          </a:xfrm>
          <a:prstGeom prst="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Bit: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0" y="1080000"/>
            <a:ext cx="1440000" cy="720000"/>
          </a:xfrm>
          <a:prstGeom prst="rect">
            <a:avLst/>
          </a:prstGeom>
          <a:solidFill>
            <a:srgbClr val="FFF0E6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Modified Pixel</a:t>
            </a:r>
          </a:p>
          <a:p>
            <a:r>
              <a:t>10110111 (183)</a:t>
            </a:r>
          </a:p>
          <a:p>
            <a:r>
              <a:t>LSB changed!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16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LSB Method:</a:t>
            </a:r>
            <a:br/>
            <a:r>
              <a:t>• Replace Least Significant Bit with secret data</a:t>
            </a:r>
            <a:br/>
            <a:r>
              <a:t>• Minimal visual change (+/-1 intensity value)</a:t>
            </a:r>
            <a:br/>
            <a:r>
              <a:t>• Detectable by neural networks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962FF"/>
                </a:solidFill>
              </a:defRPr>
            </a:pPr>
            <a:r>
              <a:t>Архитектура SRNet (Steganalysis ResNet)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80000"/>
            <a:ext cx="1080000" cy="540000"/>
          </a:xfrm>
          <a:prstGeom prst="rect">
            <a:avLst/>
          </a:prstGeom>
          <a:solidFill>
            <a:srgbClr val="F5F7FA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Input</a:t>
            </a:r>
          </a:p>
          <a:p>
            <a:r>
              <a:t>(1x256x256)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0000" y="1080000"/>
            <a:ext cx="1080000" cy="540000"/>
          </a:xfrm>
          <a:prstGeom prst="rect">
            <a:avLst/>
          </a:prstGeom>
          <a:solidFill>
            <a:srgbClr val="E6F0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HPF Layer</a:t>
            </a:r>
          </a:p>
          <a:p>
            <a:r>
              <a:t>(5 SRM filters)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0" y="1080000"/>
            <a:ext cx="1080000" cy="540000"/>
          </a:xfrm>
          <a:prstGeom prst="rect">
            <a:avLst/>
          </a:prstGeom>
          <a:solidFill>
            <a:srgbClr val="E6F0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Conv1</a:t>
            </a:r>
          </a:p>
          <a:p>
            <a:r>
              <a:t>(5-&gt;64 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980000"/>
            <a:ext cx="1620000" cy="540000"/>
          </a:xfrm>
          <a:prstGeom prst="roundRect">
            <a:avLst/>
          </a:prstGeom>
          <a:solidFill>
            <a:srgbClr val="FFEBE6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ResBlock x3</a:t>
            </a:r>
          </a:p>
          <a:p>
            <a:r>
              <a:t>stride=2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0000" y="1980000"/>
            <a:ext cx="1620000" cy="540000"/>
          </a:xfrm>
          <a:prstGeom prst="roundRect">
            <a:avLst/>
          </a:prstGeom>
          <a:solidFill>
            <a:srgbClr val="FFEBE6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ResBlock x3</a:t>
            </a:r>
          </a:p>
          <a:p>
            <a:r>
              <a:t>stride=2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880000"/>
            <a:ext cx="1620000" cy="540000"/>
          </a:xfrm>
          <a:prstGeom prst="roundRect">
            <a:avLst/>
          </a:prstGeom>
          <a:solidFill>
            <a:srgbClr val="FFEBE6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ResBlock x3</a:t>
            </a:r>
          </a:p>
          <a:p>
            <a:r>
              <a:t>stride=2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0000" y="2880000"/>
            <a:ext cx="1620000" cy="540000"/>
          </a:xfrm>
          <a:prstGeom prst="roundRect">
            <a:avLst/>
          </a:prstGeom>
          <a:solidFill>
            <a:srgbClr val="FFEBE6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ResBlock x3</a:t>
            </a:r>
          </a:p>
          <a:p>
            <a:r>
              <a:t>stride=2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0000" y="3780000"/>
            <a:ext cx="1440000" cy="5400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Global AvgPool</a:t>
            </a:r>
          </a:p>
          <a:p>
            <a:r>
              <a:t>+ FC (512-&gt;2)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0" y="1080000"/>
            <a:ext cx="612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Техническая реализация:</a:t>
            </a:r>
          </a:p>
          <a:p>
            <a:pPr>
              <a:defRPr sz="1200"/>
            </a:pPr>
            <a:r>
              <a:t>* HPF Layer: 5 фиксированных SRM-фильтров</a:t>
            </a:r>
          </a:p>
          <a:p>
            <a:pPr>
              <a:defRPr sz="1200"/>
            </a:pPr>
            <a:r>
              <a:t>* Conv1: 5-&gt;64 канала, kernel 3x3</a:t>
            </a:r>
          </a:p>
          <a:p>
            <a:pPr>
              <a:defRPr sz="1200"/>
            </a:pPr>
            <a:r>
              <a:t>* 4 группы остаточных блоков: 64-&gt;64-&gt;128-&gt;256-&gt;512</a:t>
            </a:r>
          </a:p>
          <a:p>
            <a:pPr>
              <a:defRPr sz="1200"/>
            </a:pPr>
            <a:r>
              <a:t>* ResidualBlock: abs() + tanh() активации</a:t>
            </a:r>
          </a:p>
          <a:p>
            <a:pPr>
              <a:defRPr sz="1200"/>
            </a:pPr>
            <a:r>
              <a:t>* Skip-connections для борьбы с затуханием градиентов</a:t>
            </a:r>
          </a:p>
          <a:p>
            <a:pPr>
              <a:defRPr sz="1200"/>
            </a:pPr>
            <a:r>
              <a:t>* Global Average Pooling + FC (512-&gt;2)</a:t>
            </a:r>
          </a:p>
          <a:p>
            <a:pPr>
              <a:defRPr sz="1200"/>
            </a:pPr>
            <a:r>
              <a:t>* Обучаемых параметров: ~2.5 млн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962FF"/>
                </a:solidFill>
              </a:defRPr>
            </a:pPr>
            <a:r>
              <a:t>Архитектура GSR-Net (с механизмом внимания)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900000" cy="432000"/>
          </a:xfrm>
          <a:prstGeom prst="rect">
            <a:avLst/>
          </a:prstGeom>
          <a:solidFill>
            <a:srgbClr val="F5F7FA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Input</a:t>
            </a:r>
          </a:p>
          <a:p>
            <a:r>
              <a:t>(1x256x256)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0000" y="900000"/>
            <a:ext cx="900000" cy="432000"/>
          </a:xfrm>
          <a:prstGeom prst="rect">
            <a:avLst/>
          </a:prstGeom>
          <a:solidFill>
            <a:srgbClr val="E6F0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HPF</a:t>
            </a:r>
          </a:p>
          <a:p>
            <a:r>
              <a:t>(5 filters)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900000"/>
            <a:ext cx="900000" cy="432000"/>
          </a:xfrm>
          <a:prstGeom prst="rect">
            <a:avLst/>
          </a:prstGeom>
          <a:solidFill>
            <a:srgbClr val="E6F0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Conv1</a:t>
            </a:r>
          </a:p>
          <a:p>
            <a:r>
              <a:t>(5-&gt;64)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000" y="1620000"/>
            <a:ext cx="1440000" cy="540000"/>
          </a:xfrm>
          <a:prstGeom prst="roundRect">
            <a:avLst/>
          </a:prstGeom>
          <a:solidFill>
            <a:srgbClr val="E6FAEB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SE-Block</a:t>
            </a:r>
          </a:p>
          <a:p>
            <a:r>
              <a:t>+ ResBlock x3</a:t>
            </a:r>
          </a:p>
          <a:p>
            <a:r>
              <a:t>64-&gt;64</a:t>
            </a:r>
          </a:p>
        </p:txBody>
      </p:sp>
      <p:sp>
        <p:nvSpPr>
          <p:cNvPr id="7" name="Diamond 6"/>
          <p:cNvSpPr/>
          <p:nvPr/>
        </p:nvSpPr>
        <p:spPr>
          <a:xfrm>
            <a:off x="180001" y="1620001"/>
            <a:ext cx="360000" cy="360000"/>
          </a:xfrm>
          <a:prstGeom prst="diamond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0000" y="1620000"/>
            <a:ext cx="1440000" cy="540000"/>
          </a:xfrm>
          <a:prstGeom prst="roundRect">
            <a:avLst/>
          </a:prstGeom>
          <a:solidFill>
            <a:srgbClr val="E6FAEB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SE-Block</a:t>
            </a:r>
          </a:p>
          <a:p>
            <a:r>
              <a:t>+ ResBlock x3</a:t>
            </a:r>
          </a:p>
          <a:p>
            <a:r>
              <a:t>64-&gt;128</a:t>
            </a:r>
          </a:p>
        </p:txBody>
      </p:sp>
      <p:sp>
        <p:nvSpPr>
          <p:cNvPr id="9" name="Diamond 8"/>
          <p:cNvSpPr/>
          <p:nvPr/>
        </p:nvSpPr>
        <p:spPr>
          <a:xfrm>
            <a:off x="1800001" y="1620001"/>
            <a:ext cx="360000" cy="360000"/>
          </a:xfrm>
          <a:prstGeom prst="diamond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0000" y="1620000"/>
            <a:ext cx="1440000" cy="540000"/>
          </a:xfrm>
          <a:prstGeom prst="roundRect">
            <a:avLst/>
          </a:prstGeom>
          <a:solidFill>
            <a:srgbClr val="E6FAEB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SE-Block</a:t>
            </a:r>
          </a:p>
          <a:p>
            <a:r>
              <a:t>+ ResBlock x3</a:t>
            </a:r>
          </a:p>
          <a:p>
            <a:r>
              <a:t>128-&gt;256</a:t>
            </a:r>
          </a:p>
        </p:txBody>
      </p:sp>
      <p:sp>
        <p:nvSpPr>
          <p:cNvPr id="11" name="Diamond 10"/>
          <p:cNvSpPr/>
          <p:nvPr/>
        </p:nvSpPr>
        <p:spPr>
          <a:xfrm>
            <a:off x="3420001" y="1620001"/>
            <a:ext cx="360000" cy="360000"/>
          </a:xfrm>
          <a:prstGeom prst="diamond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620000"/>
            <a:ext cx="1440000" cy="540000"/>
          </a:xfrm>
          <a:prstGeom prst="roundRect">
            <a:avLst/>
          </a:prstGeom>
          <a:solidFill>
            <a:srgbClr val="E6FAEB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SE-Block</a:t>
            </a:r>
          </a:p>
          <a:p>
            <a:r>
              <a:t>+ ResBlock x3</a:t>
            </a:r>
          </a:p>
          <a:p>
            <a:r>
              <a:t>256-&gt;512</a:t>
            </a:r>
          </a:p>
        </p:txBody>
      </p:sp>
      <p:sp>
        <p:nvSpPr>
          <p:cNvPr id="13" name="Diamond 12"/>
          <p:cNvSpPr/>
          <p:nvPr/>
        </p:nvSpPr>
        <p:spPr>
          <a:xfrm>
            <a:off x="5040001" y="1620001"/>
            <a:ext cx="360000" cy="360000"/>
          </a:xfrm>
          <a:prstGeom prst="diamond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0" y="2700000"/>
            <a:ext cx="1260000" cy="4320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AvgPool + FC</a:t>
            </a:r>
          </a:p>
          <a:p>
            <a:r>
              <a:t>(512-&gt;2)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3420000"/>
            <a:ext cx="115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Ключевые особенности GSR-Net:</a:t>
            </a:r>
          </a:p>
          <a:p>
            <a:pPr>
              <a:defRPr sz="1200"/>
            </a:pPr>
            <a:r>
              <a:t>* SE-Block (Squeeze-and-Excitation): канальная рекалибровка</a:t>
            </a:r>
          </a:p>
          <a:p>
            <a:pPr>
              <a:defRPr sz="1200"/>
            </a:pPr>
            <a:r>
              <a:t>  - Squeeze: глобальное усреднение по пространству</a:t>
            </a:r>
          </a:p>
          <a:p>
            <a:pPr>
              <a:defRPr sz="1200"/>
            </a:pPr>
            <a:r>
              <a:t>  - Excitation: обучение весов важности каналов</a:t>
            </a:r>
          </a:p>
          <a:p>
            <a:pPr>
              <a:defRPr sz="1200"/>
            </a:pPr>
            <a:r>
              <a:t>  - Scale: умножение признаков на веса</a:t>
            </a:r>
          </a:p>
          <a:p>
            <a:pPr>
              <a:defRPr sz="1200"/>
            </a:pPr>
            <a:r>
              <a:t>* AttentionResidualBlock: SE-Block встроен в остаточный блок</a:t>
            </a:r>
          </a:p>
          <a:p>
            <a:pPr>
              <a:defRPr sz="1200"/>
            </a:pPr>
            <a:r>
              <a:t>* Фокусировка на информативных признаках стеганографических искажений</a:t>
            </a:r>
          </a:p>
          <a:p>
            <a:pPr>
              <a:defRPr sz="1200"/>
            </a:pPr>
            <a:r>
              <a:t>* Обучаемых параметров: ~3.1 млн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Архитектуры Yedroudj-Net и Zhu-Net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Yedroudj-Net (базовая архитектура):</a:t>
            </a:r>
          </a:p>
          <a:p>
            <a:pPr lvl="1">
              <a:defRPr sz="1500">
                <a:solidFill>
                  <a:srgbClr val="2C3E50"/>
                </a:solidFill>
              </a:defRPr>
            </a:pPr>
            <a:r>
              <a:t>5 сверточных блоков с Tanh активацией и AvgPooling</a:t>
            </a:r>
          </a:p>
          <a:p>
            <a:pPr lvl="1">
              <a:defRPr sz="1500">
                <a:solidFill>
                  <a:srgbClr val="2C3E50"/>
                </a:solidFill>
              </a:defRPr>
            </a:pPr>
            <a:r>
              <a:t>Последовательность: 1-&gt;64-&gt;16-&gt;16-&gt;16-&gt;16 каналов</a:t>
            </a:r>
          </a:p>
          <a:p>
            <a:pPr lvl="1">
              <a:defRPr sz="1500">
                <a:solidFill>
                  <a:srgbClr val="2C3E50"/>
                </a:solidFill>
              </a:defRPr>
            </a:pPr>
            <a:r>
              <a:t>3 полносвязных слоя: 1024-&gt;512-&gt;256-&gt;2</a:t>
            </a:r>
          </a:p>
          <a:p>
            <a:pPr lvl="1">
              <a:defRPr sz="1500">
                <a:solidFill>
                  <a:srgbClr val="2C3E50"/>
                </a:solidFill>
              </a:defRPr>
            </a:pPr>
            <a:r>
              <a:t>Dropout 0.5 для регуляризации</a:t>
            </a:r>
          </a:p>
          <a:p>
            <a:pPr lvl="1">
              <a:defRPr sz="1500">
                <a:solidFill>
                  <a:srgbClr val="2C3E50"/>
                </a:solidFill>
              </a:defRPr>
            </a:pPr>
            <a:r>
              <a:t>~1.8 млн обучаемых параметров</a:t>
            </a:r>
          </a:p>
          <a:p>
            <a:pPr>
              <a:defRPr sz="1500">
                <a:solidFill>
                  <a:srgbClr val="2C3E50"/>
                </a:solidFill>
              </a:defRPr>
            </a:pPr>
          </a:p>
          <a:p>
            <a:pPr>
              <a:defRPr sz="1500" b="1">
                <a:solidFill>
                  <a:srgbClr val="2C3E50"/>
                </a:solidFill>
              </a:defRPr>
            </a:pPr>
            <a:r>
              <a:t>Zhu-Net (State-of-the-Art):</a:t>
            </a:r>
          </a:p>
          <a:p>
            <a:pPr lvl="1">
              <a:defRPr sz="1500">
                <a:solidFill>
                  <a:srgbClr val="2C3E50"/>
                </a:solidFill>
              </a:defRPr>
            </a:pPr>
            <a:r>
              <a:t>30 SRM-фильтров для извлечения высокочастотных остатков</a:t>
            </a:r>
          </a:p>
          <a:p>
            <a:pPr lvl="1">
              <a:defRPr sz="1500">
                <a:solidFill>
                  <a:srgbClr val="2C3E50"/>
                </a:solidFill>
              </a:defRPr>
            </a:pPr>
            <a:r>
              <a:t>AttentionBlock в каждом остаточном блоке</a:t>
            </a:r>
          </a:p>
          <a:p>
            <a:pPr lvl="1">
              <a:defRPr sz="1500">
                <a:solidFill>
                  <a:srgbClr val="2C3E50"/>
                </a:solidFill>
              </a:defRPr>
            </a:pPr>
            <a:r>
              <a:t>4 группы residual блоков: 64-&gt;128-&gt;256-&gt;512</a:t>
            </a:r>
          </a:p>
          <a:p>
            <a:pPr lvl="1">
              <a:defRPr sz="1500">
                <a:solidFill>
                  <a:srgbClr val="2C3E50"/>
                </a:solidFill>
              </a:defRPr>
            </a:pPr>
            <a:r>
              <a:t>Глобальный средний пулинг + классификатор</a:t>
            </a:r>
          </a:p>
          <a:p>
            <a:pPr lvl="1">
              <a:defRPr sz="1500">
                <a:solidFill>
                  <a:srgbClr val="2C3E50"/>
                </a:solidFill>
              </a:defRPr>
            </a:pPr>
            <a:r>
              <a:t>~4.2 млн обучаемых параметров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5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962FF"/>
                </a:solidFill>
              </a:defRPr>
            </a:pPr>
            <a:r>
              <a:t>Результаты экспериментов (тестовый набор)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20000" y="1080000"/>
          <a:ext cx="10080000" cy="43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Сравнительный анализ эффективности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 b="1">
                <a:solidFill>
                  <a:srgbClr val="2C3E50"/>
                </a:solidFill>
              </a:defRPr>
            </a:pPr>
            <a:r>
              <a:t>Таблица результатов:</a:t>
            </a:r>
          </a:p>
          <a:p>
            <a:pPr>
              <a:defRPr sz="1300">
                <a:solidFill>
                  <a:srgbClr val="2C3E50"/>
                </a:solidFill>
              </a:defRPr>
            </a:pPr>
          </a:p>
          <a:p>
            <a:pPr>
              <a:defRPr sz="1300" b="1">
                <a:solidFill>
                  <a:srgbClr val="2C3E50"/>
                </a:solidFill>
              </a:defRPr>
            </a:pPr>
            <a:r>
              <a:t>Модель          | Accuracy | ROC-AUC | Параметры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----------------------------------------------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GSR-Net         |  74.00%  |  0.8119  | ~3.1 млн * Лучшая accuracy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SRNet           |  72.33%  |  0.7983  | ~2.5 млн * Баланс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Zhu-Net         |  68.67%  |  0.8298  | ~4.2 млн * Лучший AUC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Yedroudj-Net    |  60.33%  |  0.6629  | ~1.8 млн</a:t>
            </a:r>
          </a:p>
          <a:p>
            <a:pPr>
              <a:defRPr sz="1300">
                <a:solidFill>
                  <a:srgbClr val="2C3E50"/>
                </a:solidFill>
              </a:defRPr>
            </a:pPr>
          </a:p>
          <a:p>
            <a:pPr>
              <a:defRPr sz="1300" b="1">
                <a:solidFill>
                  <a:srgbClr val="2C3E50"/>
                </a:solidFill>
              </a:defRPr>
            </a:pPr>
            <a:r>
              <a:t>Выводы:</a:t>
            </a:r>
          </a:p>
          <a:p>
            <a:pPr lvl="1">
              <a:defRPr sz="1300">
                <a:solidFill>
                  <a:srgbClr val="2C3E50"/>
                </a:solidFill>
              </a:defRPr>
            </a:pPr>
            <a:r>
              <a:t>- GSR-Net показал наилучшую точность детектирования (74%)</a:t>
            </a:r>
          </a:p>
          <a:p>
            <a:pPr lvl="1">
              <a:defRPr sz="1300">
                <a:solidFill>
                  <a:srgbClr val="2C3E50"/>
                </a:solidFill>
              </a:defRPr>
            </a:pPr>
            <a:r>
              <a:t>- SE-Block улучшает качество на ~2% по сравнению с SRNet</a:t>
            </a:r>
          </a:p>
          <a:p>
            <a:pPr lvl="1">
              <a:defRPr sz="1300">
                <a:solidFill>
                  <a:srgbClr val="2C3E50"/>
                </a:solidFill>
              </a:defRPr>
            </a:pPr>
            <a:r>
              <a:t>- Zhu-Net имеет лучший ROC-AUC (0.83), но требует больше ресурсов</a:t>
            </a:r>
          </a:p>
          <a:p>
            <a:pPr lvl="1">
              <a:defRPr sz="1300">
                <a:solidFill>
                  <a:srgbClr val="2C3E50"/>
                </a:solidFill>
              </a:defRPr>
            </a:pPr>
            <a:r>
              <a:t>- Все модели превосходят случайное угадывание (50%)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План дальнейшей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1. Расширение экспериментальной базы: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Тестирование на больших датасетах (BOSSbase, BOWS-2)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Исследование устойчивости к другим методам стеганографии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Оценка работы при разном уровне внедрения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 b="1">
                <a:solidFill>
                  <a:srgbClr val="2C3E50"/>
                </a:solidFill>
              </a:defRPr>
            </a:pPr>
            <a:r>
              <a:t>2. Оптимизация моделей: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Pruning и квантование для уменьшения размера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Исследование transfer learning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 b="1">
                <a:solidFill>
                  <a:srgbClr val="2C3E50"/>
                </a:solidFill>
              </a:defRPr>
            </a:pPr>
            <a:r>
              <a:t>3. Разработка программного модуля: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Создание веб-интерфейса для анализа изображений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Интеграция лучшей модели (GSR-Net) в систему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Подготовка документации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 b="1">
                <a:solidFill>
                  <a:srgbClr val="2C3E50"/>
                </a:solidFill>
              </a:defRPr>
            </a:pPr>
            <a:r>
              <a:t>4. Написание ВКР: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Оформление теоретической и практической частей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Подготовка демонстрационных материалов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Выполненные задачи: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- Проведен обзор методов стеганоанализа и нейросетевых архитектур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- Подготовлены датасеты (Cats vs Dogs grayscale, синтетические)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- Реализованы 4 архитектуры нейронных сетей на PyTorch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- Внедрен метод LSB-стеганографии для генерации данных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- Проведены эксперименты и сравнительный анализ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 b="1">
                <a:solidFill>
                  <a:srgbClr val="2C3E50"/>
                </a:solidFill>
              </a:defRPr>
            </a:pPr>
            <a:r>
              <a:t>Научная новизна: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Адаптация специализированных архитектур стегоанализа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для черно-белых изображений и оценка их эффективности</a:t>
            </a:r>
          </a:p>
          <a:p>
            <a:pPr>
              <a:defRPr sz="1600">
                <a:solidFill>
                  <a:srgbClr val="2C3E50"/>
                </a:solidFill>
              </a:defRPr>
            </a:pPr>
          </a:p>
          <a:p>
            <a:pPr>
              <a:defRPr sz="1600" b="1">
                <a:solidFill>
                  <a:srgbClr val="2C3E50"/>
                </a:solidFill>
              </a:defRPr>
            </a:pPr>
            <a:r>
              <a:t>Практическая значимость: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Прототип системы обнаружения скрытой информации</a:t>
            </a:r>
          </a:p>
          <a:p>
            <a:pPr lvl="1">
              <a:defRPr sz="1600">
                <a:solidFill>
                  <a:srgbClr val="2C3E50"/>
                </a:solidFill>
              </a:defRPr>
            </a:pPr>
            <a:r>
              <a:t>Рекомендации по выбору оптимальной архитектуры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0" y="2520000"/>
            <a:ext cx="864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62FF"/>
                </a:solidFill>
              </a:defRPr>
            </a:pPr>
            <a:r>
              <a:t>Спасибо за внимание!</a:t>
            </a:r>
          </a:p>
          <a:p>
            <a:br/>
            <a:pPr algn="ctr">
              <a:defRPr sz="2000">
                <a:solidFill>
                  <a:srgbClr val="2C3E50"/>
                </a:solidFill>
              </a:defRPr>
            </a:pPr>
            <a:r>
              <a:t>Готов ответить на ваши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